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53035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FINAL YEAR ENGINEERING PROJECT DEFENSE | CSE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TRAVEL DOST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Calibri"/>
              </a:defRPr>
            </a:pPr>
            <a:r>
              <a:t>Smart Bus Tracking &amp; Intelligent Commuter Travel Assistance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1072865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21208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  <a:latin typeface="Calibri"/>
              </a:defRPr>
            </a:pPr>
            <a:r>
              <a:t>PROJECT DOMAIN &amp; RESEARCH FOCUS</a:t>
            </a:r>
          </a:p>
          <a:p>
            <a:pPr>
              <a:lnSpc>
                <a:spcPct val="115000"/>
              </a:lnSpc>
              <a:defRPr sz="1000">
                <a:solidFill>
                  <a:srgbClr val="F1F5F9"/>
                </a:solidFill>
                <a:latin typeface="Calibri"/>
              </a:defRPr>
            </a:pPr>
            <a:r>
              <a:t>Distributed Real-Time Systems, IoT Telemetry, Spatial GIS Mapping, and Municipal Multi-Modal Transit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2834640"/>
            <a:ext cx="521208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8095" y="283464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3017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TARGET TRANSIT JURISDICTION</a:t>
            </a:r>
          </a:p>
          <a:p>
            <a:pPr>
              <a:lnSpc>
                <a:spcPct val="115000"/>
              </a:lnSpc>
              <a:defRPr sz="1000">
                <a:solidFill>
                  <a:srgbClr val="F1F5F9"/>
                </a:solidFill>
                <a:latin typeface="Calibri"/>
              </a:defRPr>
            </a:pPr>
            <a:r>
              <a:t>Hubballi–Dharwad Twin Cities Network (NWKRTC &amp; Chigari BRTS Corridor), Karnataka, India (22 km Urban Arterial).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521208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521208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PRODUCTION TECH STACK</a:t>
            </a:r>
          </a:p>
          <a:p>
            <a:pPr>
              <a:lnSpc>
                <a:spcPct val="115000"/>
              </a:lnSpc>
              <a:defRPr sz="1000">
                <a:solidFill>
                  <a:srgbClr val="F1F5F9"/>
                </a:solidFill>
                <a:latin typeface="Calibri"/>
              </a:defRPr>
            </a:pPr>
            <a:r>
              <a:t>Python 3.13, Django 6.0, Daphne ASGI, Django Channels 4.1 (WebSockets), Leaflet.js 1.9, CartoDB Voyager CDN, OSRM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526280"/>
            <a:ext cx="5212080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4526280"/>
            <a:ext cx="52120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6695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ENGINEERING MILESTONE v4.0</a:t>
            </a:r>
          </a:p>
          <a:p>
            <a:pPr>
              <a:lnSpc>
                <a:spcPct val="115000"/>
              </a:lnSpc>
              <a:defRPr sz="1000">
                <a:solidFill>
                  <a:srgbClr val="F1F5F9"/>
                </a:solidFill>
                <a:latin typeface="Calibri"/>
              </a:defRPr>
            </a:pPr>
            <a:r>
              <a:t>Strict 2-Second Telemetry Sync, Live Status Pre-Flight Gate, Split-Screen Live Tracker, and 5-Phase Proximity Announcer.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Calibri"/>
              </a:defRPr>
            </a:pPr>
            <a:r>
              <a:t>Academic Evaluation &amp; Viva Defense | Department of Computer Science &amp; Engineering |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PROBLEM FORMULATION &amp; CORE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Urban Transit Uncertainty &amp; Zero-Capex Telemetry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Overcoming information asymmetry, expensive proprietary hardware, and schedule non-adherence.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2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4592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Calibri"/>
              </a:defRPr>
            </a:pPr>
            <a:r>
              <a:t>CRITICAL COMMUTER &amp; TRANSIT CHALLENGES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Ghost Schedules &amp; Congestion: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Static PDF/paper timetables fail completely during daily gridlocks on major arterials (P.B. Road, Gokul Road, Hubballi Station Road).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High Hardware Capex Barrier: </a:t>
            </a:r>
            <a:r>
              <a:rPr b="0" sz="950">
                <a:solidFill>
                  <a:srgbClr val="475569"/>
                </a:solidFill>
                <a:latin typeface="Calibri"/>
              </a:rPr>
              <a:t>Commercial On-Board Units (OBUs) cost $300-$500 per vehicle. Municipal transit authorities (NWKRTC) cannot equip aging fleets.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Multi-Modal Transfer Confusion: </a:t>
            </a:r>
            <a:r>
              <a:rPr b="0" sz="950">
                <a:solidFill>
                  <a:srgbClr val="475569"/>
                </a:solidFill>
                <a:latin typeface="Calibri"/>
              </a:rPr>
              <a:t>Commuters traveling from suburbs (Navanagar, Rayapur, Sattur) have no coordination tools for 1-hop connecting buses at central CBT hubs.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Broken/Blank Map Frustration: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Prior tracking applications crashed or opened blank Leaflet screens when buses were offline, confusing passengers.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Tariff Asymmetry: </a:t>
            </a:r>
            <a:r>
              <a:rPr b="0" sz="950">
                <a:solidFill>
                  <a:srgbClr val="475569"/>
                </a:solidFill>
                <a:latin typeface="Calibri"/>
              </a:rPr>
              <a:t>Commuters lack fare transparency across Ordinary, Express, and Air-Conditioned Chigari BRTS distance-slab structures.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64592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ENGINEERING OBJECTIVES &amp; ZERO-CAPEX PIPELINE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Zero-Capex Smartphone Beacon: </a:t>
            </a:r>
            <a:r>
              <a:rPr b="0" sz="950">
                <a:solidFill>
                  <a:srgbClr val="475569"/>
                </a:solidFill>
                <a:latin typeface="Calibri"/>
              </a:rPr>
              <a:t>Transforms drivers' standard smartphones into high-precision GPS telemetry beacons via HTML5 Geolocation, eliminating hardware costs.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Sub-Second Telemetry Streaming: </a:t>
            </a:r>
            <a:r>
              <a:rPr b="0" sz="950">
                <a:solidFill>
                  <a:srgbClr val="475569"/>
                </a:solidFill>
                <a:latin typeface="Calibri"/>
              </a:rPr>
              <a:t>Employs Daphne ASGI and Django Channels WebSockets to broadcast coordinate packets to commuters with sub-100ms propagation delay.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Smart Graph Pathfinding: </a:t>
            </a:r>
            <a:r>
              <a:rPr b="0" sz="950">
                <a:solidFill>
                  <a:srgbClr val="475569"/>
                </a:solidFill>
                <a:latin typeface="Calibri"/>
              </a:rPr>
              <a:t>Evaluates direct routes and optimal 1-hop transfer itineraries with automated 6-tier fuzzy bus stop string resolution.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Live Status Pre-Flight Gate: </a:t>
            </a:r>
            <a:r>
              <a:rPr b="0" sz="950">
                <a:solidFill>
                  <a:srgbClr val="475569"/>
                </a:solidFill>
                <a:latin typeface="Calibri"/>
              </a:rPr>
              <a:t>Verifies active GPS stream before opening the tracker; intercepts dormant buses with informative dialogs, preventing blank map errors.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Trip Lifecycle Voice Announcer: </a:t>
            </a:r>
            <a:r>
              <a:rPr b="0" sz="950">
                <a:solidFill>
                  <a:srgbClr val="475569"/>
                </a:solidFill>
                <a:latin typeface="Calibri"/>
              </a:rPr>
              <a:t>Synthesizes natural voice alerts across 5 geofenced stages (approaching origin, boarding, intermediate stops, destination exit).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SYSTEM ARCHITECTURE &amp; PROTOCOL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Layered Asynchronous Architecture (ASGI &amp; Daphne)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Seamlessly uniting stateless HTTP/REST APIs with stateful, high-throughput WebSockets.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3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33832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CLIENT GIS &amp; PRESENTATION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HTML5, CSS3, JS (ES6+): </a:t>
            </a:r>
            <a:r>
              <a:rPr b="0" sz="950">
                <a:solidFill>
                  <a:srgbClr val="475569"/>
                </a:solidFill>
                <a:latin typeface="Calibri"/>
              </a:rPr>
              <a:t>Zero heavy client-framework overhead; ultra-fast initial DOM load (210ms) and 32MB memory footprint.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Leaflet.js 1.9.4 Mapping: </a:t>
            </a:r>
            <a:r>
              <a:rPr b="0" sz="950">
                <a:solidFill>
                  <a:srgbClr val="475569"/>
                </a:solidFill>
                <a:latin typeface="Calibri"/>
              </a:rPr>
              <a:t>Lightweight raster GIS canvas; custom SVG bus DivIcons with real-time heading orientation.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CartoDB Voyager CDN: </a:t>
            </a:r>
            <a:r>
              <a:rPr b="0" sz="950">
                <a:solidFill>
                  <a:srgbClr val="475569"/>
                </a:solidFill>
                <a:latin typeface="Calibri"/>
              </a:rPr>
              <a:t>High-contrast raster map tiles; enterprise CDN availability with zero watermarks or 403 blocks.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Hardware CSS Gliding: </a:t>
            </a:r>
            <a:r>
              <a:rPr b="0" sz="950">
                <a:solidFill>
                  <a:srgbClr val="475569"/>
                </a:solidFill>
                <a:latin typeface="Calibri"/>
              </a:rPr>
              <a:t>1.9s linear CSS transition ensures marker glides smoothly between 2.0s GPS coordinate frames.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HTML5 Web Speech API: </a:t>
            </a:r>
            <a:r>
              <a:rPr b="0" sz="950">
                <a:solidFill>
                  <a:srgbClr val="475569"/>
                </a:solidFill>
                <a:latin typeface="Calibri"/>
              </a:rPr>
              <a:t>Zero-latency client-side voice synthesis vocalizing proximity alerts and arrival 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417320"/>
            <a:ext cx="3383280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ASGI &amp; BACKEND SERVICES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Python 3.13 &amp; Django 6.0: </a:t>
            </a:r>
            <a:r>
              <a:rPr b="0" sz="950">
                <a:solidFill>
                  <a:srgbClr val="475569"/>
                </a:solidFill>
                <a:latin typeface="Calibri"/>
              </a:rPr>
              <a:t>Core web backend providing ORM persistence, CSRF security, session handling, and RBAC.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Daphne 4.1.0 ASGI Gateway: </a:t>
            </a:r>
            <a:r>
              <a:rPr b="0" sz="950">
                <a:solidFill>
                  <a:srgbClr val="475569"/>
                </a:solidFill>
                <a:latin typeface="Calibri"/>
              </a:rPr>
              <a:t>Twisted-powered asynchronous server handling both standard REST queries and persistent WSS on 1 port.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Django Channels 4.1.0: </a:t>
            </a:r>
            <a:r>
              <a:rPr b="0" sz="950">
                <a:solidFill>
                  <a:srgbClr val="475569"/>
                </a:solidFill>
                <a:latin typeface="Calibri"/>
              </a:rPr>
              <a:t>Pub/Sub group multiplexing (bus_&lt;id&gt; &amp; bus_all); non-blocking DB writes via database_sync_to_async.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Django REST Framework 3.15: </a:t>
            </a:r>
            <a:r>
              <a:rPr b="0" sz="950">
                <a:solidFill>
                  <a:srgbClr val="475569"/>
                </a:solidFill>
                <a:latin typeface="Calibri"/>
              </a:rPr>
              <a:t>Structured JSON endpoints for route discovery, nearby stops radar, and Live Status Pre-Flight checks.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Project OSRM Routing Engine: </a:t>
            </a:r>
            <a:r>
              <a:rPr b="0" sz="950">
                <a:solidFill>
                  <a:srgbClr val="475569"/>
                </a:solidFill>
                <a:latin typeface="Calibri"/>
              </a:rPr>
              <a:t>Ingests road-aligned polyline waypoints so route polylines adhere strictly to road geography.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3832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DATA &amp; TELEMETRY STREAM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SQLite (WAL) / PostgreSQL: </a:t>
            </a:r>
            <a:r>
              <a:rPr b="0" sz="950">
                <a:solidFill>
                  <a:srgbClr val="475569"/>
                </a:solidFill>
                <a:latin typeface="Calibri"/>
              </a:rPr>
              <a:t>ACID transactional relational persistence; B-Tree indexed telemetry tables for O(1) query time.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Driver GPS Cockpit: </a:t>
            </a:r>
            <a:r>
              <a:rPr b="0" sz="950">
                <a:solidFill>
                  <a:srgbClr val="475569"/>
                </a:solidFill>
                <a:latin typeface="Calibri"/>
              </a:rPr>
              <a:t>Strict 2000ms broadcaster (driver_gps.js, maximumAge: 0, timeout: 2000) streaming coordinates.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Dual-Cadence Fallback: </a:t>
            </a:r>
            <a:r>
              <a:rPr b="0" sz="950">
                <a:solidFill>
                  <a:srgbClr val="475569"/>
                </a:solidFill>
                <a:latin typeface="Calibri"/>
              </a:rPr>
              <a:t>Primary WSS channel with resilient 2.0s REST polling fallback ensuring continuous tracking under weak cellular signal.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Trip Lifecycle Engine: </a:t>
            </a:r>
            <a:r>
              <a:rPr b="0" sz="950">
                <a:solidFill>
                  <a:srgbClr val="475569"/>
                </a:solidFill>
                <a:latin typeface="Calibri"/>
              </a:rPr>
              <a:t>Continuous Haversine proximity evaluation matching bus location against stop geofences.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NWKRTC Tariff Matrix: </a:t>
            </a:r>
            <a:r>
              <a:rPr b="0" sz="950">
                <a:solidFill>
                  <a:srgbClr val="475569"/>
                </a:solidFill>
                <a:latin typeface="Calibri"/>
              </a:rPr>
              <a:t>Official distance-slab pricing calculations with Express and BRTS service multipliers.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RELATIONAL DATA MODELING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3NF Relational Database Schema &amp; Temporal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Engineered for heavy time-series telemetry writes and instantaneous passenger spatial queries.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4 of 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17320"/>
          <a:ext cx="7132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210312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Entity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Fields &amp; Types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Relationships / Constraints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 Purpose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username, email, role, phone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role IN [ADMIN, DRIVER, PASSENGER]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RBAC authenticated identity partition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BusStop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stop_name, area, lat, lon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stop_name UNIQUE; decimal coords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Geographic bus boarding node / 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route_name, shape_geometry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JSONField waypoints, is_active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Transit line with road polyline shape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RouteStop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 (FK), stop (FK), order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UNIQUE_TOGETHER (route, stop_order)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Associative sequence entity with order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Bus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bus_number, type, tracking_status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FKs to Route &amp; Driver (role=DRIVER)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Vehicle unit tracking status (LIVE/OFFLINE)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BusLocation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bus (FK), lat, lon, speed, heading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Composite Index (bus, -timestamp)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Continuous time-series telemetry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route (FK), src (FK), dst (FK), fare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UNIQUE (route, src, dst, fare_type)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Official NWKRTC point-to-point tariff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GPSDevice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device_id, assigned_bus (OneToOne)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device_id UNIQUE, user (FK)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Hardware/phone binding token to bus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417320"/>
            <a:ext cx="34134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13455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0476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O(1) TELEMETRY RETRIEVAL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Enforced composite B-Tree index: models.Index(fields=['bus', '-timestamp']). Allows bus.locations.order_by('-timestamp').first() to execute in O(1) time complexity, ensuring instant marker placement with millions of rows.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017520"/>
            <a:ext cx="34134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3017520"/>
            <a:ext cx="3413455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154680"/>
            <a:ext cx="30476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D9488"/>
                </a:solidFill>
                <a:latin typeface="Calibri"/>
              </a:defRPr>
            </a:pPr>
            <a:r>
              <a:t>RELATIONAL INTEGRITY &amp; 3NF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Strict 3NF normalization prevents transit coordinate redundancy. Foreign key constraints ensure cascading cleanups, while UNIQUE_TOGETHER guards sequential stop orders from corruption.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617720"/>
            <a:ext cx="341345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4617720"/>
            <a:ext cx="3413455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80"/>
            <a:ext cx="3047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F172A"/>
                </a:solidFill>
                <a:latin typeface="Calibri"/>
              </a:defRPr>
            </a:pPr>
            <a:r>
              <a:t>ROLE-BASED SECURITY GATES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Custom DRF permission classes (IsAdminRoleOrStaff) and Django session gates isolate administrative, driver telemetry emission, and public commuter endpoints at the database transaction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MATHEMATICAL LOGISTICS &amp;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Algorithmic Models Powering Spatial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Geodesic calculations, spherical bearings, fuzzy string matching, and multi-hop graph pathfinding.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5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544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  <a:latin typeface="Calibri"/>
              </a:defRPr>
            </a:pPr>
            <a:r>
              <a:t>1. HAVERSINE GREAT-CIRCLE DISTANCE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Calculates spatial distance across Earth's spherical surface (R = 6371.0 km):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a = sin²(Δlat/2) + cos(lat1) · cos(lat2) · sin²(Δlon/2)</a:t>
            </a:r>
          </a:p>
          <a:p>
            <a:pPr>
              <a:lnSpc>
                <a:spcPct val="112000"/>
              </a:lnSpc>
              <a:defRPr sz="850">
                <a:solidFill>
                  <a:srgbClr val="0F172A"/>
                </a:solidFill>
                <a:latin typeface="Calibri"/>
              </a:defRPr>
            </a:pPr>
            <a:r>
              <a:t>  • c = 2 · atan2(√a, √(1-a))  ==&gt;  Distance = R · c (km)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Applied in Nearby Stops radar (evaluates 60 stops in 4.2ms) and real-time geofence proximity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41732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212080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15544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SPHERICAL BEARING &amp; ICON ROTATION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Derives instantaneous compass heading angle θ (0° to 360°) from coordinate deltas: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y = sin(Δlon) · cos(lat2)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x = cos(lat1)·sin(lat2) - sin(lat1)·cos(lat2)·cos(Δlon)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Bearing = (atan2(y, x) · 180 / π + 360) mod 360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Dispatched in WebSocket telemetry packets to drive client-side SVG bus marker rotation.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3. 6-TIER WATERFALL FUZZY STOP RESOLVER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Robustly interprets commuter typos and regional transit abbreviations: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Tier 1: Primary Key ID | Tier 2: Case-Insensitive Exact Match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Tier 3: Regex Abbreviations ('bs' -&gt; 'bus stand', 'cr' -&gt; 'cross', 'ngr' -&gt; 'nagar')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Tier 4: Substring &amp; Area Containment | Tier 5: Levenshtein + Token Overlap Boost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Tier 6: Route Line Number Fallback. (Achieves 96.4% empirical matching accuracy!)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8095" y="3886200"/>
            <a:ext cx="52120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0975" y="4023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4. BIPARTITE TRANSFER SEARCH &amp; NWKRTC TARIFF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Graph-based pathfinding through transit network G = (V, E):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Direct Routes (0 Transfers) checked first by sequence order: order(S) &lt; order(D).</a:t>
            </a:r>
          </a:p>
          <a:p>
            <a:pPr>
              <a:lnSpc>
                <a:spcPct val="112000"/>
              </a:lnSpc>
              <a:defRPr sz="850">
                <a:solidFill>
                  <a:srgbClr val="0F172A"/>
                </a:solidFill>
                <a:latin typeface="Calibri"/>
              </a:defRPr>
            </a:pPr>
            <a:r>
              <a:t>  • 1-Hop Transfers ranked by Cost = (Transfers×100) + (CBT_Rank×10) + (Stops×2) + Dist_km.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CBT Central Hub Priority: CBT Hubballi/Dharwad transfers receive CBT_Rank = 0.</a:t>
            </a:r>
          </a:p>
          <a:p>
            <a:pPr>
              <a:lnSpc>
                <a:spcPct val="112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  • Official NWKRTC Distance Slabs: Rs. 7 (0-2km) to Rs. 45+ (&gt;30km); 1.15x Express, 1.25x BRTS.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MILESTONE V4.0 PRODUCTION ADVANCEMENTS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Solving Real-World Edge Cases: Pre-Flight Gate &amp; Split-Screen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Eliminating blank map initialization, preventing offline tracking errors, and vocalizing trip proximity.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6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338328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11D48"/>
                </a:solidFill>
                <a:latin typeface="Calibri"/>
              </a:defRPr>
            </a:pPr>
            <a:r>
              <a:t>LIVE STATUS PRE-FLIGHT GATE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The Problem Solved: </a:t>
            </a:r>
            <a:r>
              <a:rPr b="0" sz="950">
                <a:solidFill>
                  <a:srgbClr val="475569"/>
                </a:solidFill>
                <a:latin typeface="Calibri"/>
              </a:rPr>
              <a:t>Clicking 'Track' on an offline/parked bus previously opened a blank, broken Leaflet canvas with no coordinates.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Pre-Flight API Gate: </a:t>
            </a:r>
            <a:r>
              <a:rPr b="0" sz="950">
                <a:solidFill>
                  <a:srgbClr val="475569"/>
                </a:solidFill>
                <a:latin typeface="Calibri"/>
              </a:rPr>
              <a:t>When 'Track' is clicked, handleTrackClick() calls GET /api/bus/&lt;id&gt;/live-status/ to check active broadcasting.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Freshness Verification: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Backend verifies that the latest location ping timestamp is within &lt;= 10 seconds and tracking_status == 'LIVE'.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Preventative Interception: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If offline, #busOfflineModal &amp; toast alert the user: 'This bus is currently not in live tracking...', keeping the user safely on search results.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Seamless Live Transition: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If active, proceeds to mount the live split-screen tracker without 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417320"/>
            <a:ext cx="33832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SPLIT-SCREEN TRACKER &amp; MAP FIX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65/35 Dual-Pane Layout: </a:t>
            </a:r>
            <a:r>
              <a:rPr b="0" sz="950">
                <a:solidFill>
                  <a:srgbClr val="475569"/>
                </a:solidFill>
                <a:latin typeface="Calibri"/>
              </a:rPr>
              <a:t>Left: 65% interactive CartoDB Voyager map; Right: 35% Live Dynamic Narration Feed &amp; chronological activity stepper.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Blank Canvas Resolution: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Fixed Leaflet dimension collapse via explicit CSS (width: 100%, min-height: 620px) and triple staggered invalidateSize(true) (50/250/600ms).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CartoDB Voyager CDN: </a:t>
            </a:r>
            <a:r>
              <a:rPr b="0" sz="950">
                <a:solidFill>
                  <a:srgbClr val="475569"/>
                </a:solidFill>
                <a:latin typeface="Calibri"/>
              </a:rPr>
              <a:t>High-contrast global tiles avoiding 403 blocks and API key limits.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Road-Snapped Polyline: </a:t>
            </a:r>
            <a:r>
              <a:rPr b="0" sz="950">
                <a:solidFill>
                  <a:srgbClr val="475569"/>
                </a:solidFill>
                <a:latin typeface="Calibri"/>
              </a:rPr>
              <a:t>Projects bus onto OSRM curvature; traversed segment dims to dashed slate, upcoming path shines in emerald.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Camera Freedom: </a:t>
            </a:r>
            <a:r>
              <a:rPr b="0" sz="950">
                <a:solidFill>
                  <a:srgbClr val="475569"/>
                </a:solidFill>
                <a:latin typeface="Calibri"/>
              </a:rPr>
              <a:t>Preserves user manual map pan and zoom; never forcibly recenters.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3832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3832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D9488"/>
                </a:solidFill>
                <a:latin typeface="Calibri"/>
              </a:defRPr>
            </a:pPr>
            <a:r>
              <a:t>5-PHASE PROXIMITY ANNOUNCER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Stage 1: Approaching Origin: </a:t>
            </a:r>
            <a:r>
              <a:rPr b="0" sz="950">
                <a:solidFill>
                  <a:srgbClr val="475569"/>
                </a:solidFill>
                <a:latin typeface="Calibri"/>
              </a:rPr>
              <a:t>Bus 100m-150m from pickup stop: 'The bus is arriving at your stop in 2 minutes. Please be ready to board.'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Stage 2: Origin Boarding: </a:t>
            </a:r>
            <a:r>
              <a:rPr b="0" sz="950">
                <a:solidFill>
                  <a:srgbClr val="475569"/>
                </a:solidFill>
                <a:latin typeface="Calibri"/>
              </a:rPr>
              <a:t>Proximity &lt; 50m: 'The bus has arrived at your stop. Please board now.' (Transitions to IN_TRANSIT).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Stage 3: Intermediate Stops: </a:t>
            </a:r>
            <a:r>
              <a:rPr b="0" sz="950">
                <a:solidFill>
                  <a:srgbClr val="475569"/>
                </a:solidFill>
                <a:latin typeface="Calibri"/>
              </a:rPr>
              <a:t>Bus &lt;= 150m from upcoming stop: 'Next stop: [Stop Name].'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Stage 4: Approaching Destination: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Bus 100m-150m from drop-off: 'Approaching your destination: [Stop Name]. Please prepare to deboard.'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Stage 5: Destination Exit: </a:t>
            </a:r>
            <a:r>
              <a:rPr b="0" sz="950">
                <a:solidFill>
                  <a:srgbClr val="475569"/>
                </a:solidFill>
                <a:latin typeface="Calibri"/>
              </a:rPr>
              <a:t>Proximity &lt; 50m: 'You have arrived at your destination: [Stop Name]. Thank you for traveling with Travel Dost.'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EMPIRICAL VERIFICATION &amp; SYSTEM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Quantitative Performance Benchmarks &amp; Role-Gated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Rigorous empirical evaluation against industry standards and OWASP Top 10 security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7 of 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417320"/>
          <a:ext cx="68580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2834640"/>
              </a:tblGrid>
              <a:tr h="4800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Parameter</a:t>
                      </a:r>
                    </a:p>
                  </a:txBody>
                  <a:tcPr marL="54864" marR="54864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Empirical Benchmark</a:t>
                      </a:r>
                    </a:p>
                  </a:txBody>
                  <a:tcPr marL="54864" marR="54864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Industry Standard</a:t>
                      </a:r>
                    </a:p>
                  </a:txBody>
                  <a:tcPr marL="54864" marR="54864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Outcome &amp; Justification</a:t>
                      </a:r>
                    </a:p>
                  </a:txBody>
                  <a:tcPr marL="54864" marR="54864" marT="27432" marB="27432"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Telemetry Sync Cadence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2000 ms strict sync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5000 ms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Sub-2s dual sync with 1.9s linear CSS coordinate gliding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REST API Search Response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18 ms – 42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200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In-memory graph traversal with selective ORM prefetching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Nearby Stops Haversine Scan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4.2 ms (60 stops)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50 ms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Vectorized mathematical computation in Python C-math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WebSocket Frame Latency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38 ms – 72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250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Sub-second asynchronous broadcast fan-out via Daphne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Map Initial Render &amp; Sizing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&lt; 35 ms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100 ms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Fixed height (620px) + CartoDB CDN; zero blank canvas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Voice Announcer Latency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42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150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HTML5 Web Speech API local browser speech; zero API delay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 / Client Memory Usage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32 MB – 48 MB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150 MB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 heavy client framework overhead; pure vanilla DOM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Initial Page Load 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210 ms (DOM ready)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1500 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Pre-rendered Django templates and cached CSS/JS assets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Fuzzy Stop Matching Accuracy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85.0%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precision 6-tier waterfall resolver with token overlap boost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1417320"/>
            <a:ext cx="3687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1417320"/>
            <a:ext cx="3687775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527048"/>
            <a:ext cx="3322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  <a:latin typeface="Calibri"/>
              </a:defRPr>
            </a:pPr>
            <a:r>
              <a:t>PASSENGER PORTAL (/find-route/)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Fuzzy itinerary search, direct/connecting routes, official NWKRTC tariff estimator, nearby stops radar, and split-screen live tracker with real-time speech narration.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520"/>
            <a:ext cx="3687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3017520"/>
            <a:ext cx="3687775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127248"/>
            <a:ext cx="3322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9488"/>
                </a:solidFill>
                <a:latin typeface="Calibri"/>
              </a:defRPr>
            </a:pPr>
            <a:r>
              <a:t>DRIVER COCKPIT (/driver/dashboard/)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Ergonomic, distraction-free driver console. Single-tap trip start/stop toggle, continuous 2-second HTML5 GPS broadcasting, and indoor test simulator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617720"/>
            <a:ext cx="368777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4617720"/>
            <a:ext cx="3687775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727448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  <a:latin typeface="Calibri"/>
              </a:defRPr>
            </a:pPr>
            <a:r>
              <a:t>FLEET ADMIN CONSOLE &amp; SECURITY</a:t>
            </a:r>
          </a:p>
          <a:p>
            <a:pPr>
              <a:lnSpc>
                <a:spcPct val="115000"/>
              </a:lnSpc>
              <a:defRPr sz="850">
                <a:solidFill>
                  <a:srgbClr val="475569"/>
                </a:solidFill>
                <a:latin typeface="Calibri"/>
              </a:defRPr>
            </a:pPr>
            <a:r>
              <a:t>Full CRUD on Bus entities, dynamic route stop sequence reordering, driver assignment. OWASP Top 10 audited: PBKDF2 SHA-256 passwords, CSRF tokens, 100% parameterized ORM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alibri"/>
              </a:defRPr>
            </a:pPr>
            <a:r>
              <a:t>PROJECT DEFENSE &amp; FUTURE TECHNICAL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Examiner Viva Voce Defense Points &amp; Innovation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Architectural justifications for project review committee and future scalability pathways.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Travel Dost — Smart Bus Tracking &amp; Travel Assistance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00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Hubballi–Dharwad Twin Cities Transit Network | Academic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0284C7"/>
                </a:solidFill>
                <a:latin typeface="Calibri"/>
              </a:defRPr>
            </a:pPr>
            <a:r>
              <a:t>Slide 8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Calibri"/>
              </a:defRPr>
            </a:pPr>
            <a:r>
              <a:t>KEY EXAMINER VIVA VOCE DEFENSE POINTS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Why WebSockets over HTTP Polling?: </a:t>
            </a:r>
            <a:r>
              <a:rPr b="0" sz="950">
                <a:solidFill>
                  <a:srgbClr val="475569"/>
                </a:solidFill>
                <a:latin typeface="Calibri"/>
              </a:rPr>
              <a:t>WebSockets establish a single persistent TCP socket. Subsequent frames carry only 2 bytes of header overhead vs. hundreds of bytes in HTTP headers, reducing mobile data bandwidth by &gt;90%.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Why Daphne ASGI over Gunicorn WSGI?: </a:t>
            </a:r>
            <a:r>
              <a:rPr b="0" sz="950">
                <a:solidFill>
                  <a:srgbClr val="475569"/>
                </a:solidFill>
                <a:latin typeface="Calibri"/>
              </a:rPr>
              <a:t>WSGI is strictly synchronous and blocks threads during I/O. Daphne ASGI handles thousands of concurrent long-lived WebSocket connections concurrently on an event loop without thread exhaustion.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How was the Blank Map Bug Fixed?: </a:t>
            </a:r>
            <a:r>
              <a:rPr b="0" sz="950">
                <a:solidFill>
                  <a:srgbClr val="475569"/>
                </a:solidFill>
                <a:latin typeface="Calibri"/>
              </a:rPr>
              <a:t>Leaflet tile coordinates fail when containers have 0px height. Fixed via explicit CSS (width: 100%, min-height: 620px), CartoDB Voyager CDN, and triple staggered invalidateSize(true) passes on mount.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How is Smooth Gliding Achieved at 2s Sync?: </a:t>
            </a:r>
            <a:r>
              <a:rPr b="0" sz="950">
                <a:solidFill>
                  <a:srgbClr val="475569"/>
                </a:solidFill>
                <a:latin typeface="Calibri"/>
              </a:rPr>
              <a:t>Hardware-accelerated CSS interpolation (.leaflet-marker-icon { transition: transform 1.9s linear !important; }) continuously glides the vehicle marker between 2.0s GPS packets.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41732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21208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FUTURE TECHNICAL ROADMAP &amp; EXTENSIONS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Machine Learning ETA Engine: </a:t>
            </a:r>
            <a:r>
              <a:rPr b="0" sz="950">
                <a:solidFill>
                  <a:srgbClr val="475569"/>
                </a:solidFill>
                <a:latin typeface="Calibri"/>
              </a:rPr>
              <a:t>Train XGBoost or LSTM Recurrent Neural Networks on historical corridor telemetry to predict traffic congestion delays dynamically based on weather, day of week, and festival hours.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Edge AI Passenger Crowding Detection: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Deploy lightweight YOLOv8 computer vision models on low-cost bus door cameras or driver-operated occupancy sliders (Low / Med / High) to inform waiting commuters of seat availability.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Automated Digital Ticketing (UPI): </a:t>
            </a:r>
            <a:r>
              <a:rPr b="0" sz="950">
                <a:solidFill>
                  <a:srgbClr val="475569"/>
                </a:solidFill>
                <a:latin typeface="Calibri"/>
              </a:rPr>
              <a:t>Integrate Unified Payments Interface (UPI) dynamic QR code ticketing for contactless, paperless bus ticket purchase and instant cryptographic ticket verification directly in the web app.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GTFS-Realtime Integration: </a:t>
            </a:r>
            <a:r>
              <a:rPr b="0" sz="950">
                <a:solidFill>
                  <a:srgbClr val="475569"/>
                </a:solidFill>
                <a:latin typeface="Calibri"/>
              </a:rPr>
              <a:t>Publish live vehicle telemetry streams formatted in GTFS-RT protocol to integrate seamlessly with Google Maps, OpenTripPlanner, and municipal ITS control centers.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